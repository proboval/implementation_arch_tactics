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52538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INNOPOLIS UNIVERSITY — MS STUDY GUIDE,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1557338"/>
            <a:ext cx="77724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spcAft>
                <a:spcPts val="1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Implementation of Architectural Tactics for Software Quality Improvement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3246388"/>
            <a:ext cx="762000" cy="38100"/>
          </a:xfrm>
          <a:prstGeom prst="rect">
            <a:avLst/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487638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Study Guide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" y="3738414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Guide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7000" y="934492"/>
            <a:ext cx="0" cy="399901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3001" y="934492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1: Motivation &amp; 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3001" y="1156692"/>
            <a:ext cx="38474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maintenance costs dominate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7000" y="1461343"/>
            <a:ext cx="0" cy="399901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3001" y="1461343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2: SA Foundations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3001" y="1683544"/>
            <a:ext cx="38474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Components, connectors, styles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7000" y="1988195"/>
            <a:ext cx="0" cy="399901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001" y="1988195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3: Quality &amp; Maintainability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3001" y="2210395"/>
            <a:ext cx="38474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25010, metrics, SIG model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7000" y="2515046"/>
            <a:ext cx="0" cy="399901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001" y="2515046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4: Architectural Tactics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001" y="2737247"/>
            <a:ext cx="38474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modifiability tactics catalog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7000" y="3041898"/>
            <a:ext cx="0" cy="399901"/>
          </a:xfrm>
          <a:prstGeom prst="line">
            <a:avLst/>
          </a:prstGeom>
          <a:noFill/>
          <a:ln w="38100">
            <a:solidFill>
              <a:srgbClr val="E85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001" y="3041898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5: Architecture Erosion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3001" y="3264098"/>
            <a:ext cx="38474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Detection-remediation gap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18000" y="934492"/>
            <a:ext cx="0" cy="399901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001" y="934492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6: Assessment Methods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001" y="1156692"/>
            <a:ext cx="38474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Metrics, tools, agreement crisis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18000" y="1461343"/>
            <a:ext cx="0" cy="399901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001" y="1461343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7: LLMs for Refactoring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001" y="1683544"/>
            <a:ext cx="38474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MANTRA, prompts, pipelines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18000" y="1988195"/>
            <a:ext cx="0" cy="399901"/>
          </a:xfrm>
          <a:prstGeom prst="line">
            <a:avLst/>
          </a:prstGeom>
          <a:noFill/>
          <a:ln w="38100">
            <a:solidFill>
              <a:srgbClr val="E85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001" y="1988195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8: Challenges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64001" y="2210395"/>
            <a:ext cx="38474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Technical, measurement, practical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18000" y="2515046"/>
            <a:ext cx="0" cy="399901"/>
          </a:xfrm>
          <a:prstGeom prst="line">
            <a:avLst/>
          </a:prstGeom>
          <a:noFill/>
          <a:ln w="38100">
            <a:solidFill>
              <a:srgbClr val="E85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001" y="2515046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9: Research Gaps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001" y="2737247"/>
            <a:ext cx="384749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 gap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8950" y="3092648"/>
            <a:ext cx="3937099" cy="695920"/>
          </a:xfrm>
          <a:prstGeom prst="roundRect">
            <a:avLst>
              <a:gd name="adj" fmla="val 1095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51350" y="3245048"/>
            <a:ext cx="370494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papers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reviewed across architectural tactics, maintainability, and LLM-based code transformation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88118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166938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&amp; Context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843213"/>
            <a:ext cx="647689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software maintenance dominates lifecycle costs and how architectural decisions determine maintainability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Software Maintenance Crisis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09042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 cause is rarely individual lines of code — it is </a:t>
            </a:r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at the architectural level</a:t>
            </a:r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determine how easily a system absorbs change.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513284"/>
            <a:ext cx="2540050" cy="1577132"/>
          </a:xfrm>
          <a:prstGeom prst="roundRect">
            <a:avLst>
              <a:gd name="adj" fmla="val 48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9763" y="1716435"/>
            <a:ext cx="2176424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9763" y="2285405"/>
            <a:ext cx="217642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share of total lifecycle cost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9763" y="2727275"/>
            <a:ext cx="21764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[Bass et al., 2021]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01901" y="1513284"/>
            <a:ext cx="2540198" cy="1577132"/>
          </a:xfrm>
          <a:prstGeom prst="roundRect">
            <a:avLst>
              <a:gd name="adj" fmla="val 48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83712" y="1716435"/>
            <a:ext cx="2176576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83712" y="2285405"/>
            <a:ext cx="217657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effort spent on refactoring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83712" y="2727275"/>
            <a:ext cx="21765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[Fowler, 2018]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0" y="1513284"/>
            <a:ext cx="2540050" cy="1577132"/>
          </a:xfrm>
          <a:prstGeom prst="roundRect">
            <a:avLst>
              <a:gd name="adj" fmla="val 48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77813" y="1716435"/>
            <a:ext cx="2176424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83.8%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77813" y="2285405"/>
            <a:ext cx="217642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Practitioners reporting quality degradation from erosion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77813" y="2727275"/>
            <a:ext cx="21764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 et al., 2021]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950" y="3268117"/>
            <a:ext cx="8128099" cy="932111"/>
          </a:xfrm>
          <a:prstGeom prst="roundRect">
            <a:avLst>
              <a:gd name="adj" fmla="val 8175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0350" y="3420517"/>
            <a:ext cx="797976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"Software architecture can expose the dimensions along which a system is expected to evolve. By making explicit the 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b="1" i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load-bearing walls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system, maintainers can better understand the ramifications of changes."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0350" y="3887837"/>
            <a:ext cx="79797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Garlan &amp; Perry, 1995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Barrier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09042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 Require Deep Knowledge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1198662"/>
            <a:ext cx="3937099" cy="16764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tactics are easy to state but hard to implement in real codebases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inter-procedural changes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spanning multiple classes and packages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95% syntax-correct but only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semantically correct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tactic synthesis [Shokri et al., 2024]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3002012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≠ Remediation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3291632"/>
            <a:ext cx="3937099" cy="1447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Rosik et al. (IBM):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of 9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detected violations were fixed by developers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Barriers: risk of ripple effects, time pressure, legacy entanglement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knew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problems but chose not to fix them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98950" y="909042"/>
            <a:ext cx="3937099" cy="1204913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651" y="1086743"/>
            <a:ext cx="36533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Vicious Cycle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6651" y="1308943"/>
            <a:ext cx="365333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debt causes erosion → erosion generates more debt → architecture degrades further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76651" y="1776264"/>
            <a:ext cx="36533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 et al., 2021]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98950" y="2240905"/>
            <a:ext cx="3937099" cy="1512243"/>
          </a:xfrm>
          <a:prstGeom prst="roundRect">
            <a:avLst>
              <a:gd name="adj" fmla="val 503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6651" y="2418606"/>
            <a:ext cx="36533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6651" y="2640806"/>
            <a:ext cx="365333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can bridge the gap if placed in a 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pipeline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external verification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76651" y="3108127"/>
            <a:ext cx="365333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MANTRA: 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82.8%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success rate with multi-agent pipeline vs 8.7% standalone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88118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166938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Architecture Foundations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843213"/>
            <a:ext cx="647689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Components, connectors, configurations, and the architectural styles that shape system quality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66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Software Architecture?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71971"/>
            <a:ext cx="3962400" cy="646212"/>
          </a:xfrm>
          <a:prstGeom prst="roundRect">
            <a:avLst>
              <a:gd name="adj" fmla="val 117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898922"/>
            <a:ext cx="37826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Perry &amp; Wolf (1992)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095673"/>
            <a:ext cx="37826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= Elements + Form + Rationale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494383"/>
            <a:ext cx="3962400" cy="646212"/>
          </a:xfrm>
          <a:prstGeom prst="roundRect">
            <a:avLst>
              <a:gd name="adj" fmla="val 117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621334"/>
            <a:ext cx="37826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Garlan &amp; Shaw (1993)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1818084"/>
            <a:ext cx="37826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+ Connectors + Configurations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216795"/>
            <a:ext cx="3962400" cy="646212"/>
          </a:xfrm>
          <a:prstGeom prst="roundRect">
            <a:avLst>
              <a:gd name="adj" fmla="val 117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901" y="2343745"/>
            <a:ext cx="37826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Bass, Clements &amp; Kazman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2540496"/>
            <a:ext cx="378266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Structures needed to reason about the system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2939207"/>
            <a:ext cx="3962400" cy="609302"/>
          </a:xfrm>
          <a:prstGeom prst="roundRect">
            <a:avLst>
              <a:gd name="adj" fmla="val 12506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4901" y="3066157"/>
            <a:ext cx="378266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captures intent, not just structure — rationale is a first-class citizen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73501" y="771971"/>
            <a:ext cx="404180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Architectural Styles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73501" y="1061591"/>
            <a:ext cx="3962549" cy="12001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Pipes-and-Filters:</a:t>
            </a:r>
            <a:pPr algn="l" indent="0" marL="0">
              <a:lnSpc>
                <a:spcPts val="165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flows through stages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Layered:</a:t>
            </a:r>
            <a:pPr algn="l" indent="0" marL="0">
              <a:lnSpc>
                <a:spcPts val="165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Hierarchical dependency rules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Event-Driven:</a:t>
            </a:r>
            <a:pPr algn="l" indent="0" marL="0">
              <a:lnSpc>
                <a:spcPts val="165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Components via events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</a:t>
            </a:r>
            <a:pPr algn="l" indent="0" marL="0">
              <a:lnSpc>
                <a:spcPts val="165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Shared data store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Client-Server:</a:t>
            </a:r>
            <a:pPr algn="l" indent="0" marL="0">
              <a:lnSpc>
                <a:spcPts val="165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Requestors and providers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73501" y="2337941"/>
            <a:ext cx="404180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KWIC case study: same problem in 4 styles yields different modifiability trade-offs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88118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166938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Maintainability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843213"/>
            <a:ext cx="647689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McCall (1977) to ISO/IEC 25010 — how we define, decompose, and measure software quality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25010: Maintainability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09042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 is one of </a:t>
            </a:r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quality characteristics</a:t>
            </a:r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decomposes into 5 sub-characteristics: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274713"/>
            <a:ext cx="1503611" cy="1266379"/>
          </a:xfrm>
          <a:prstGeom prst="roundRect">
            <a:avLst>
              <a:gd name="adj" fmla="val 601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427113"/>
            <a:ext cx="1222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0350" y="1677888"/>
            <a:ext cx="1222787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to one component have minimal impact on others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63961" y="1274713"/>
            <a:ext cx="1503759" cy="1266379"/>
          </a:xfrm>
          <a:prstGeom prst="roundRect">
            <a:avLst>
              <a:gd name="adj" fmla="val 601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16361" y="1427113"/>
            <a:ext cx="1222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16361" y="1677888"/>
            <a:ext cx="1222939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can be used in building other systems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20120" y="1274713"/>
            <a:ext cx="1503611" cy="1266379"/>
          </a:xfrm>
          <a:prstGeom prst="roundRect">
            <a:avLst>
              <a:gd name="adj" fmla="val 601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72520" y="1427113"/>
            <a:ext cx="1222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72520" y="1677888"/>
            <a:ext cx="1222787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Effectiveness of assessing change impact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76131" y="1274713"/>
            <a:ext cx="1503759" cy="1266379"/>
          </a:xfrm>
          <a:prstGeom prst="roundRect">
            <a:avLst>
              <a:gd name="adj" fmla="val 6017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28531" y="1427113"/>
            <a:ext cx="1222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8531" y="1677888"/>
            <a:ext cx="1222939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modified without degradation —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focus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290" y="1274713"/>
            <a:ext cx="1503759" cy="1266379"/>
          </a:xfrm>
          <a:prstGeom prst="roundRect">
            <a:avLst>
              <a:gd name="adj" fmla="val 601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84690" y="1427113"/>
            <a:ext cx="1222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84690" y="1677888"/>
            <a:ext cx="1222939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criteria can be established and tests executed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950" y="2718792"/>
            <a:ext cx="3937099" cy="994321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0350" y="2871192"/>
            <a:ext cx="37049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Hotspot Concentration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0350" y="3093393"/>
            <a:ext cx="370494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 packages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contain 80% of maintainability issues [Molnar &amp; Motogna, 2020]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98950" y="2718792"/>
            <a:ext cx="3937099" cy="994321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51350" y="2871192"/>
            <a:ext cx="37049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 Maintainability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51350" y="3093393"/>
            <a:ext cx="370494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Visser's 10 guidelines with 1-5 star rating; issue resolution is 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faster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4-star vs 2-star systems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985963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271713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Tactics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947988"/>
            <a:ext cx="6476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 that influence the achievement of a quality attribute response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Architectural Tactics?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09042"/>
            <a:ext cx="3937099" cy="1045815"/>
          </a:xfrm>
          <a:prstGeom prst="roundRect">
            <a:avLst>
              <a:gd name="adj" fmla="val 7286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651" y="1086743"/>
            <a:ext cx="3653332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design decision that influences the achievement of a quality attribute response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651" y="1599456"/>
            <a:ext cx="365333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Bass, Clements &amp; Kazman, 2021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2107257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Hierarchy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396877"/>
            <a:ext cx="3937099" cy="1257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Overall system organization (e.g., Layered)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Recurring solution (e.g., MVC)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Targeted quality decision (e.g., Use Intermediary)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Implementation detail (e.g., Adapter class)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3755678"/>
            <a:ext cx="401584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Kassab et al.: </a:t>
            </a:r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projects modify patterns with tactics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98950" y="909042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→ Tactic → Response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98950" y="1198662"/>
            <a:ext cx="3937099" cy="1043880"/>
          </a:xfrm>
          <a:prstGeom prst="roundRect">
            <a:avLst>
              <a:gd name="adj" fmla="val 73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1350" y="1351062"/>
            <a:ext cx="370494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Stimulus: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change request arrives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51350" y="1622822"/>
            <a:ext cx="370494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Tactic: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an Intermediary to decouple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51350" y="1894582"/>
            <a:ext cx="370494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Change is confined to fewer modules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98950" y="2369493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 Research Landscape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8950" y="2659112"/>
            <a:ext cx="3937099" cy="1257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Marquez (2022): 91 studies surveyed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don't describe identification method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Detection: NLP/BERT, ML classifiers, Archie, ArchEngine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rigor gap: most studies are qualitative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Modifiability Tactics Catalog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58143"/>
            <a:ext cx="2573834" cy="2138958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0350" y="1010543"/>
            <a:ext cx="2269034" cy="323850"/>
          </a:xfrm>
          <a:prstGeom prst="roundRect">
            <a:avLst>
              <a:gd name="adj" fmla="val 1568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1086743"/>
            <a:ext cx="20554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Cohesion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0350" y="1435894"/>
            <a:ext cx="2269034" cy="110415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Module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Semantic Coherence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Common Services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Encapsulate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Dependencies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84934" y="858143"/>
            <a:ext cx="2573982" cy="2138958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37334" y="1010543"/>
            <a:ext cx="2269182" cy="323850"/>
          </a:xfrm>
          <a:prstGeom prst="roundRect">
            <a:avLst>
              <a:gd name="adj" fmla="val 15686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64285" y="1086743"/>
            <a:ext cx="20555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Coupling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37334" y="1435894"/>
            <a:ext cx="2269182" cy="8757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 Intermediary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Encapsulation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Dependencies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Common Services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62067" y="858143"/>
            <a:ext cx="2573982" cy="2138958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4467" y="1010543"/>
            <a:ext cx="2269182" cy="323850"/>
          </a:xfrm>
          <a:prstGeom prst="roundRect">
            <a:avLst>
              <a:gd name="adj" fmla="val 15686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41418" y="1086743"/>
            <a:ext cx="20555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Binding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4467" y="1435894"/>
            <a:ext cx="2269182" cy="133260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Replacement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Publish-Subscribe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Files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Polymorphism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Binding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Registration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950" y="3124051"/>
            <a:ext cx="2573834" cy="645021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3251002"/>
            <a:ext cx="236633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Coupling dominates (49%) [Bogner, 2019]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4934" y="3124051"/>
            <a:ext cx="2573982" cy="645021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11885" y="3251002"/>
            <a:ext cx="2366483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Defer Binding dominates (52%) [Bogner, 2019]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067" y="3124051"/>
            <a:ext cx="2573982" cy="645021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89018" y="3251002"/>
            <a:ext cx="2366483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Harrison (2010):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interaction types between patterns &amp; tactics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985963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271713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Erosion &amp; Drift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947988"/>
            <a:ext cx="6476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detection alone does not solve architectural degradation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Erosion vs. Drift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09042"/>
            <a:ext cx="3937099" cy="1006822"/>
          </a:xfrm>
          <a:prstGeom prst="roundRect">
            <a:avLst>
              <a:gd name="adj" fmla="val 7568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651" y="1086743"/>
            <a:ext cx="36533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Erosion = Breaking the Rules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651" y="1347043"/>
            <a:ext cx="365333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constraints violated — e.g., controller directly accessing the database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2042815"/>
            <a:ext cx="3937099" cy="1006822"/>
          </a:xfrm>
          <a:prstGeom prst="roundRect">
            <a:avLst>
              <a:gd name="adj" fmla="val 756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651" y="2220516"/>
            <a:ext cx="36533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= Losing the 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651" y="2480816"/>
            <a:ext cx="365333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divergence — no single rule broken, but the system drifts from intended design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3176588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et al. (2021) — Four Perspectives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3466207"/>
            <a:ext cx="3937099" cy="14859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Implementation violates intended architecture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Cyclic dependencies, god classes accumulate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Maintainability, performance degrade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 resists change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8950" y="909042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 of Erosion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8950" y="1198662"/>
            <a:ext cx="3937099" cy="449461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325612"/>
            <a:ext cx="375686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violation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24.7%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98950" y="1749623"/>
            <a:ext cx="3937099" cy="449461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5901" y="1876574"/>
            <a:ext cx="375686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issues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23.3%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98950" y="2300585"/>
            <a:ext cx="3937099" cy="449461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5901" y="2427536"/>
            <a:ext cx="375686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debt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17.8%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8950" y="2851547"/>
            <a:ext cx="3937099" cy="449461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5901" y="2978497"/>
            <a:ext cx="375686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vaporization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15.1%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98950" y="3402509"/>
            <a:ext cx="3937099" cy="891480"/>
          </a:xfrm>
          <a:prstGeom prst="roundRect">
            <a:avLst>
              <a:gd name="adj" fmla="val 8548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51350" y="3554909"/>
            <a:ext cx="3704945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tools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cataloged for erosion detection, but 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82.2%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studies are academic — developers don't use them in practice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Dublin Case Study [Rosik et al., 2011]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09042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2-year longitudinal study of DAP 2.0 (28,500 LOC) using Reflexion Modelling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274713"/>
            <a:ext cx="1892350" cy="1437233"/>
          </a:xfrm>
          <a:prstGeom prst="roundRect">
            <a:avLst>
              <a:gd name="adj" fmla="val 53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0282" y="1452414"/>
            <a:ext cx="156768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70282" y="2092375"/>
            <a:ext cx="156768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Divergent edges detected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52700" y="1274713"/>
            <a:ext cx="1892350" cy="1437233"/>
          </a:xfrm>
          <a:prstGeom prst="roundRect">
            <a:avLst>
              <a:gd name="adj" fmla="val 5302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15031" y="1452414"/>
            <a:ext cx="156768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15031" y="2092375"/>
            <a:ext cx="156768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fixed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864346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Violations Persist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3153966"/>
            <a:ext cx="3937099" cy="12192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aversion: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"Fixing minor issues might cause larger ones"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Cost-benefit: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Minor violations perceived as not worth the effort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pressure: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Architectural fixes never "in scope"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950" y="1274713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Violations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98950" y="1564332"/>
            <a:ext cx="401584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8 convergent edges contained hidden divergent relationships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98950" y="2067074"/>
            <a:ext cx="401584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case: 1 edge masked </a:t>
            </a:r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of 44</a:t>
            </a:r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inconsistent relationships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8950" y="2620566"/>
            <a:ext cx="3937099" cy="1127671"/>
          </a:xfrm>
          <a:prstGeom prst="roundRect">
            <a:avLst>
              <a:gd name="adj" fmla="val 6757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51350" y="2772966"/>
            <a:ext cx="3704945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performance can be gained by breaking an architectural design, then this can sometimes be acceptable... time pressure is probably the main factor."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1350" y="3435846"/>
            <a:ext cx="37049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IBM developer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3875187"/>
            <a:ext cx="3937099" cy="645021"/>
          </a:xfrm>
          <a:prstGeom prst="roundRect">
            <a:avLst>
              <a:gd name="adj" fmla="val 1181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5901" y="4002137"/>
            <a:ext cx="375686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Continuous monitoring needed, not batch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Detection-Remediation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09042"/>
            <a:ext cx="3937099" cy="645021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1763" y="909042"/>
            <a:ext cx="0" cy="645021"/>
          </a:xfrm>
          <a:prstGeom prst="line">
            <a:avLst/>
          </a:prstGeom>
          <a:noFill/>
          <a:ln w="47625">
            <a:solidFill>
              <a:srgbClr val="E85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2526" y="1035993"/>
            <a:ext cx="370828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exists but is underused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35 tools, but 82.2% academic-only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655564"/>
            <a:ext cx="3937099" cy="645021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1655564"/>
            <a:ext cx="0" cy="645021"/>
          </a:xfrm>
          <a:prstGeom prst="line">
            <a:avLst/>
          </a:prstGeom>
          <a:noFill/>
          <a:ln w="47625">
            <a:solidFill>
              <a:srgbClr val="E85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526" y="1782514"/>
            <a:ext cx="370828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does not lead to action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0/9 violations fixed at IBM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402086"/>
            <a:ext cx="3937099" cy="645021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402086"/>
            <a:ext cx="0" cy="645021"/>
          </a:xfrm>
          <a:prstGeom prst="line">
            <a:avLst/>
          </a:prstGeom>
          <a:noFill/>
          <a:ln w="47625">
            <a:solidFill>
              <a:srgbClr val="E85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526" y="2529036"/>
            <a:ext cx="370828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exists but is fragmented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21% of QA-tactic relationships are undocumented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3174057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Workflow (Manual)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950" y="3463677"/>
            <a:ext cx="401584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→ 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Analysis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Design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Implementation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3930997"/>
            <a:ext cx="401584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is a barrier; each barrier defers the fix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98950" y="909042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Workflow (Automated)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8950" y="1198662"/>
            <a:ext cx="3937099" cy="731341"/>
          </a:xfrm>
          <a:prstGeom prst="roundRect">
            <a:avLst>
              <a:gd name="adj" fmla="val 1041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1350" y="1351062"/>
            <a:ext cx="370494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→ LLM: Select Tactic → LLM: Implement → Static Analysis 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98950" y="2056954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LLMs Address Barriers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98950" y="2346573"/>
            <a:ext cx="3937099" cy="1447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reduced: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Changes validated by testing before deployment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reduced: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human architect needed for solution design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reduced: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Automated, runs in CI/CD on every commit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98950" y="3895874"/>
            <a:ext cx="3937099" cy="609302"/>
          </a:xfrm>
          <a:prstGeom prst="roundRect">
            <a:avLst>
              <a:gd name="adj" fmla="val 12506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5901" y="4022824"/>
            <a:ext cx="3756862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Overflow mining (Bi et al., 2021):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4,195 posts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tactics, but only 11% discuss applying tactics to existing systems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985963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271713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 Assessment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947988"/>
            <a:ext cx="6476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Metrics, tools, and the surprising disagreement between static analysis tools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Maintainability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58143"/>
            <a:ext cx="3962400" cy="889992"/>
          </a:xfrm>
          <a:prstGeom prst="roundRect">
            <a:avLst>
              <a:gd name="adj" fmla="val 85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0350" y="1010543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 Index (MI)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0350" y="1232743"/>
            <a:ext cx="373075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= 171 - 5.2·ln(V) - 0.23·G - 16.2·ln(LOC)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0350" y="1435745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&gt;85 = A (good), 65-85 = B, &lt;65 = C (bad)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849636"/>
            <a:ext cx="3962400" cy="889992"/>
          </a:xfrm>
          <a:prstGeom prst="roundRect">
            <a:avLst>
              <a:gd name="adj" fmla="val 85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2002036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Cyclomatic Complexity (CC)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0350" y="2224236"/>
            <a:ext cx="373075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points + 1; Visser recommends CC ≤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350" y="2427238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1-10 = Low, 11-20 = Moderate, 21-50 = High, &gt;50 = Very 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2841129"/>
            <a:ext cx="3962400" cy="889992"/>
          </a:xfrm>
          <a:prstGeom prst="roundRect">
            <a:avLst>
              <a:gd name="adj" fmla="val 85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350" y="2993529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Halstead Volume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0350" y="3215729"/>
            <a:ext cx="373075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N · log2(n) — information content of the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0350" y="3418731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MI formula; higher = harder to maintain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3501" y="858143"/>
            <a:ext cx="3962549" cy="1415504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5901" y="1010543"/>
            <a:ext cx="37309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 Object-Oriented Suite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5901" y="1232743"/>
            <a:ext cx="373090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CBO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Coupling Between Objects (#1 cited metric, 18 studies)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5901" y="1410444"/>
            <a:ext cx="373090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Response For a Class (#2 cited, 17 studies)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5901" y="1588145"/>
            <a:ext cx="373090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WMC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Weighted Methods per Class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5901" y="1765846"/>
            <a:ext cx="373090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LCOM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Lack of Cohesion in Methods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25901" y="1943546"/>
            <a:ext cx="373090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DIT/NOC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Inheritance depth/breadth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73501" y="2375148"/>
            <a:ext cx="3962549" cy="891480"/>
          </a:xfrm>
          <a:prstGeom prst="roundRect">
            <a:avLst>
              <a:gd name="adj" fmla="val 8548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5901" y="2527548"/>
            <a:ext cx="373090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Ardito et al. (2020):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 distinct metrics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cataloged, but 75% appear in only a single paper. Field has converged on ~15 core metrics.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Agreement Crisis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09042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[Lenarduzzi et al., 2023] — 6 tools × 47 Java projects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249263"/>
            <a:ext cx="3937099" cy="1399282"/>
          </a:xfrm>
          <a:prstGeom prst="roundRect">
            <a:avLst>
              <a:gd name="adj" fmla="val 5446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1751" y="1477863"/>
            <a:ext cx="3549497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0.4%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01751" y="2188964"/>
            <a:ext cx="354949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inter-tool detection agreement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800945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Precision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3090565"/>
            <a:ext cx="3937099" cy="1028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CheckStyle: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(mostly formatting)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FindBugs: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PMD: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SonarQube: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(broadest but least precise)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950" y="1249263"/>
            <a:ext cx="3937099" cy="982712"/>
          </a:xfrm>
          <a:prstGeom prst="roundRect">
            <a:avLst>
              <a:gd name="adj" fmla="val 7754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6651" y="1426964"/>
            <a:ext cx="365333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"There is no silver bullet that is able to guarantee source code quality assessment on its own."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6651" y="1894284"/>
            <a:ext cx="36533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Lenarduzzi et al., 2023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98950" y="2384375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98950" y="2673995"/>
            <a:ext cx="3937099" cy="9906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improvement measured by a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tool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may not be confirmed by another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 et al. (2024): 35.7% of FN/FP from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cases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count ≠ debt reduction (ratio as low as 0.71)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98950" y="3766096"/>
            <a:ext cx="3937099" cy="645021"/>
          </a:xfrm>
          <a:prstGeom prst="roundRect">
            <a:avLst>
              <a:gd name="adj" fmla="val 1181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5901" y="3893046"/>
            <a:ext cx="375686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Multi-tool validation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Radon + SonarQube + Pylint + custom architecture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88118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166938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for Code Refactoring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843213"/>
            <a:ext cx="647689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code completion to code transformation — capabilities, pipelines, and the architecture gap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Revolution in 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09042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syntax-level code completion (2021) to semantic-level code transformation (2023+)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249263"/>
            <a:ext cx="259085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LLMs Handle Well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38883"/>
            <a:ext cx="2540050" cy="1396157"/>
          </a:xfrm>
          <a:prstGeom prst="roundRect">
            <a:avLst>
              <a:gd name="adj" fmla="val 545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665833"/>
            <a:ext cx="2286149" cy="110415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Method/Variable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Method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Conditionals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Dead Code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Variable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3036540"/>
            <a:ext cx="259085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single-file, pattern-based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01901" y="1249263"/>
            <a:ext cx="2591002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LLMs Struggle With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01901" y="1538883"/>
            <a:ext cx="2540198" cy="1358057"/>
          </a:xfrm>
          <a:prstGeom prst="roundRect">
            <a:avLst>
              <a:gd name="adj" fmla="val 5611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8851" y="1665833"/>
            <a:ext cx="2286298" cy="106605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Class (0% recall with generic prompts)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Method (cross-file)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Class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Superclass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01901" y="2998440"/>
            <a:ext cx="259100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Structural, cross-file, design-judgment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0" y="1249263"/>
            <a:ext cx="259085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0" y="1538883"/>
            <a:ext cx="2540050" cy="733871"/>
          </a:xfrm>
          <a:prstGeom prst="roundRect">
            <a:avLst>
              <a:gd name="adj" fmla="val 103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22950" y="1665833"/>
            <a:ext cx="23318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97.2%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22950" y="1985814"/>
            <a:ext cx="23318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preservation [DePalma]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0" y="2348954"/>
            <a:ext cx="2540050" cy="733871"/>
          </a:xfrm>
          <a:prstGeom prst="roundRect">
            <a:avLst>
              <a:gd name="adj" fmla="val 103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22950" y="2475905"/>
            <a:ext cx="23318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86.7%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22950" y="2795885"/>
            <a:ext cx="23318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with optimized prompts [Liu]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0" y="3159026"/>
            <a:ext cx="2540050" cy="733871"/>
          </a:xfrm>
          <a:prstGeom prst="roundRect">
            <a:avLst>
              <a:gd name="adj" fmla="val 103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22950" y="3285976"/>
            <a:ext cx="23318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22950" y="3605957"/>
            <a:ext cx="23318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refactorings &gt;1 file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for Refactoring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83593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[Piao et al., 2025] — 5 strategies across all 61 Fowler refactoring types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223814"/>
            <a:ext cx="5283250" cy="449461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350764"/>
            <a:ext cx="342000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Just the refactoring name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54322" y="1350764"/>
            <a:ext cx="170992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47.5% / 91.8%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1749475"/>
            <a:ext cx="5283250" cy="449461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1876425"/>
            <a:ext cx="342000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Two-Shot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Two worked examples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54322" y="1876425"/>
            <a:ext cx="170992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57.4% / 95.1%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275136"/>
            <a:ext cx="5283250" cy="449461"/>
          </a:xfrm>
          <a:prstGeom prst="roundRect">
            <a:avLst>
              <a:gd name="adj" fmla="val 1695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4901" y="2402086"/>
            <a:ext cx="342000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Procedural instructions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54322" y="2402086"/>
            <a:ext cx="170992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83.6% / 100%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2800796"/>
            <a:ext cx="5283250" cy="449461"/>
          </a:xfrm>
          <a:prstGeom prst="roundRect">
            <a:avLst>
              <a:gd name="adj" fmla="val 1695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4901" y="2927747"/>
            <a:ext cx="342000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Detection heuristics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54322" y="2927747"/>
            <a:ext cx="170992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80.3% / 100%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950" y="3326457"/>
            <a:ext cx="5283250" cy="449461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4901" y="3453408"/>
            <a:ext cx="342000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Learning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High-level goal 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54322" y="3453408"/>
            <a:ext cx="170992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29–36% / 31–38%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950" y="3852118"/>
            <a:ext cx="53889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GPT-4o-mini / DeepSeek-V3 success rates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94350" y="1223814"/>
            <a:ext cx="2641699" cy="1155353"/>
          </a:xfrm>
          <a:prstGeom prst="roundRect">
            <a:avLst>
              <a:gd name="adj" fmla="val 6595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46750" y="1376214"/>
            <a:ext cx="2383637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→ Subcategory prompt boosts success from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86.7%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46750" y="2066776"/>
            <a:ext cx="23836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[Liu et al., 2025]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94350" y="2506117"/>
            <a:ext cx="2641699" cy="1237804"/>
          </a:xfrm>
          <a:prstGeom prst="roundRect">
            <a:avLst>
              <a:gd name="adj" fmla="val 61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46750" y="265851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46750" y="2880717"/>
            <a:ext cx="2383637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instructions (pre/post conditions) outperform descriptive ones — LLMs follow mechanical rules better than natural language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MANTRA: Multi-Agent Refactoring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83593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[Xu et al., 2025] — The most significant advance in LLM-based refactoring to date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223814"/>
            <a:ext cx="1244650" cy="1089422"/>
          </a:xfrm>
          <a:prstGeom prst="roundRect">
            <a:avLst>
              <a:gd name="adj" fmla="val 699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350764"/>
            <a:ext cx="10105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Agent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1706314"/>
            <a:ext cx="101056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code via Context-Aware RAG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54101" y="1223814"/>
            <a:ext cx="1244798" cy="1089422"/>
          </a:xfrm>
          <a:prstGeom prst="roundRect">
            <a:avLst>
              <a:gd name="adj" fmla="val 6995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981051" y="1350764"/>
            <a:ext cx="10107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81051" y="1706314"/>
            <a:ext cx="10107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via SE tools (most critical)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223814"/>
            <a:ext cx="1244650" cy="1089422"/>
          </a:xfrm>
          <a:prstGeom prst="roundRect">
            <a:avLst>
              <a:gd name="adj" fmla="val 6995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27350" y="1350764"/>
            <a:ext cx="10105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Agent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27350" y="1553914"/>
            <a:ext cx="101056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fixes via Reflexion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2440186"/>
            <a:ext cx="1313111" cy="1157883"/>
          </a:xfrm>
          <a:prstGeom prst="roundRect">
            <a:avLst>
              <a:gd name="adj" fmla="val 65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0267" y="2592586"/>
            <a:ext cx="102847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0267" y="3090267"/>
            <a:ext cx="102847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MANTRA success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48011" y="2440186"/>
            <a:ext cx="1184970" cy="1157883"/>
          </a:xfrm>
          <a:prstGeom prst="roundRect">
            <a:avLst>
              <a:gd name="adj" fmla="val 65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91610" y="2592586"/>
            <a:ext cx="89777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091610" y="3090267"/>
            <a:ext cx="89777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GPT baseline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59931" y="2440186"/>
            <a:ext cx="1185118" cy="1157883"/>
          </a:xfrm>
          <a:prstGeom prst="roundRect">
            <a:avLst>
              <a:gd name="adj" fmla="val 65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03528" y="2592586"/>
            <a:ext cx="8979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9.5x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403528" y="3090267"/>
            <a:ext cx="89792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98950" y="1223814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Ablation: What Matters Most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98950" y="1513433"/>
            <a:ext cx="3937099" cy="449461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22763" y="1513433"/>
            <a:ext cx="0" cy="449461"/>
          </a:xfrm>
          <a:prstGeom prst="line">
            <a:avLst/>
          </a:prstGeom>
          <a:noFill/>
          <a:ln w="47625">
            <a:solidFill>
              <a:srgbClr val="E85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526" y="1640384"/>
            <a:ext cx="370828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Reviewer: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-61.9%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98950" y="2039094"/>
            <a:ext cx="3937099" cy="449461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22763" y="2039094"/>
            <a:ext cx="0" cy="449461"/>
          </a:xfrm>
          <a:prstGeom prst="line">
            <a:avLst/>
          </a:prstGeom>
          <a:noFill/>
          <a:ln w="47625">
            <a:solidFill>
              <a:srgbClr val="E85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526" y="2166045"/>
            <a:ext cx="370828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Repair: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-50.7%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98950" y="2564755"/>
            <a:ext cx="3937099" cy="449461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722763" y="2564755"/>
            <a:ext cx="0" cy="449461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526" y="2691705"/>
            <a:ext cx="370828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RAG: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-40.7%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98950" y="3141166"/>
            <a:ext cx="3937099" cy="695920"/>
          </a:xfrm>
          <a:prstGeom prst="roundRect">
            <a:avLst>
              <a:gd name="adj" fmla="val 1095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51350" y="3293566"/>
            <a:ext cx="370494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External verification via traditional tools is more valuable than additional LLM reasoning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Tool-Integrated Pipelines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09042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 + LLM Loop [Goncalves, 2025]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1198662"/>
            <a:ext cx="3937099" cy="772120"/>
          </a:xfrm>
          <a:prstGeom prst="roundRect">
            <a:avLst>
              <a:gd name="adj" fmla="val 98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351062"/>
            <a:ext cx="370494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→ SonarQube Analysis → Issues List → LLM Prompt → Fix → Re-analyze → Repeat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2097732"/>
            <a:ext cx="3937099" cy="1028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config: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81.3%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issue reduction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Average: &gt;58% across all configurations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iterations outperform 2 (diminishing returns after 3-4)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temp (0.1) + zero-shot = most consistent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3227933"/>
            <a:ext cx="3937099" cy="609302"/>
          </a:xfrm>
          <a:prstGeom prst="roundRect">
            <a:avLst>
              <a:gd name="adj" fmla="val 12506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3354884"/>
            <a:ext cx="3756862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58.8% issue reduction = only 42.1% debt reduction (ratio 0.71). LLMs can create new issues while fixing others.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98950" y="909042"/>
            <a:ext cx="401584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Refactoring [Horikawa, 2025]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98950" y="1198662"/>
            <a:ext cx="40158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15,451 instances from AIDev dataset — largest corpus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8950" y="1488132"/>
            <a:ext cx="3937099" cy="12954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of agentic commits target refactoring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Dominant: Rename (10.4%), Change Type (11.8%)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touch more than one file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design smell delta: </a:t>
            </a:r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86.9% of PRs merged despite low impact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950" y="2885033"/>
            <a:ext cx="3937099" cy="932111"/>
          </a:xfrm>
          <a:prstGeom prst="roundRect">
            <a:avLst>
              <a:gd name="adj" fmla="val 8175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1350" y="3037433"/>
            <a:ext cx="370494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"Agentic coding tools serve as 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b="1" i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cleanup partners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software architects."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1350" y="3504754"/>
            <a:ext cx="37049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Horikawa et al., 2025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Code-Level vs. Architecture-Level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09042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work uses LLMs to implement architectural tactics.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249263"/>
            <a:ext cx="3962400" cy="1935807"/>
          </a:xfrm>
          <a:prstGeom prst="roundRect">
            <a:avLst>
              <a:gd name="adj" fmla="val 39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401663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Code-Level (Current)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0350" y="1623864"/>
            <a:ext cx="3657600" cy="133260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method or class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(&lt;300 LOC)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Extract Method, Rename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touched: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(96.3%)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judgment: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Minimal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success: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82.8% (MANTRA)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73501" y="1249263"/>
            <a:ext cx="3962549" cy="1935807"/>
          </a:xfrm>
          <a:prstGeom prst="roundRect">
            <a:avLst>
              <a:gd name="adj" fmla="val 3936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25901" y="1401663"/>
            <a:ext cx="37309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Architecture-Level (Thesis Gap)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5901" y="1623864"/>
            <a:ext cx="3657749" cy="133260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modules/packages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System-wide (project structure)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Split Module, Use Intermediary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touched: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5-15+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judgment: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Substantial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success: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Unknown — no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3312021"/>
            <a:ext cx="3962400" cy="609302"/>
          </a:xfrm>
          <a:prstGeom prst="roundRect">
            <a:avLst>
              <a:gd name="adj" fmla="val 12506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4901" y="3438971"/>
            <a:ext cx="378266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gap: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 window limits, no architecture-aware tools, training data bias (most commits are code-level)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73501" y="3312021"/>
            <a:ext cx="3962549" cy="609302"/>
          </a:xfrm>
          <a:prstGeom prst="roundRect">
            <a:avLst>
              <a:gd name="adj" fmla="val 12506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0451" y="3438971"/>
            <a:ext cx="378282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opportunity: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Patterns from MANTRA + SonarQube pipeline can be extended from code-level to architecture-level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88118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166938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Limitations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843213"/>
            <a:ext cx="647689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core technical challenges and the measurement problems that complicate evaluation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Core Technical 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58143"/>
            <a:ext cx="1524000" cy="1465213"/>
          </a:xfrm>
          <a:prstGeom prst="roundRect">
            <a:avLst>
              <a:gd name="adj" fmla="val 52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985093"/>
            <a:ext cx="488752" cy="261491"/>
          </a:xfrm>
          <a:prstGeom prst="roundRect">
            <a:avLst>
              <a:gd name="adj" fmla="val 19427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6402" y="1035844"/>
            <a:ext cx="2914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4901" y="1322784"/>
            <a:ext cx="12955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Blindness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716435"/>
            <a:ext cx="129550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see one file, tactics span many. RAG helps 40.7%.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58901" y="858143"/>
            <a:ext cx="1524149" cy="1465213"/>
          </a:xfrm>
          <a:prstGeom prst="roundRect">
            <a:avLst>
              <a:gd name="adj" fmla="val 52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85851" y="985093"/>
            <a:ext cx="736402" cy="261491"/>
          </a:xfrm>
          <a:prstGeom prst="roundRect">
            <a:avLst>
              <a:gd name="adj" fmla="val 19427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87352" y="1035844"/>
            <a:ext cx="5440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5851" y="1322784"/>
            <a:ext cx="12956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5851" y="1544985"/>
            <a:ext cx="129565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syntax-correct but only 5% semantically correct on tactics.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0" y="858143"/>
            <a:ext cx="1524000" cy="1465213"/>
          </a:xfrm>
          <a:prstGeom prst="roundRect">
            <a:avLst>
              <a:gd name="adj" fmla="val 52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36950" y="985093"/>
            <a:ext cx="488752" cy="261491"/>
          </a:xfrm>
          <a:prstGeom prst="roundRect">
            <a:avLst>
              <a:gd name="adj" fmla="val 19427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38451" y="1035844"/>
            <a:ext cx="2914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6950" y="1322784"/>
            <a:ext cx="12955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Limits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6950" y="1544985"/>
            <a:ext cx="129550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degrades beyond ~300 LOC. Tactics need 10K+.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60950" y="858143"/>
            <a:ext cx="1524149" cy="1465213"/>
          </a:xfrm>
          <a:prstGeom prst="roundRect">
            <a:avLst>
              <a:gd name="adj" fmla="val 52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87901" y="985093"/>
            <a:ext cx="488752" cy="261491"/>
          </a:xfrm>
          <a:prstGeom prst="roundRect">
            <a:avLst>
              <a:gd name="adj" fmla="val 19427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89402" y="1035844"/>
            <a:ext cx="2914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87901" y="1322784"/>
            <a:ext cx="12956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Gap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87901" y="1544985"/>
            <a:ext cx="129565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Extract Class recall; agents are "cleanup partners."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12050" y="858143"/>
            <a:ext cx="1524000" cy="1465213"/>
          </a:xfrm>
          <a:prstGeom prst="roundRect">
            <a:avLst>
              <a:gd name="adj" fmla="val 52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39000" y="985093"/>
            <a:ext cx="666601" cy="261491"/>
          </a:xfrm>
          <a:prstGeom prst="roundRect">
            <a:avLst>
              <a:gd name="adj" fmla="val 1942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40501" y="1035844"/>
            <a:ext cx="4728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39000" y="1322784"/>
            <a:ext cx="12955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Non-Determinism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39000" y="1544985"/>
            <a:ext cx="129550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prompt → different outputs. Temp=0 helps.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950" y="2450306"/>
            <a:ext cx="3962400" cy="1333351"/>
          </a:xfrm>
          <a:prstGeom prst="roundRect">
            <a:avLst>
              <a:gd name="adj" fmla="val 5715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4901" y="2577257"/>
            <a:ext cx="37826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Challenges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4901" y="2780407"/>
            <a:ext cx="3708499" cy="800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5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disagreement: &lt;0.4%</a:t>
            </a:r>
            <a:endParaRPr lang="en-US" sz="900" dirty="0"/>
          </a:p>
          <a:p>
            <a:pPr algn="l" marL="114300" indent="-114300">
              <a:lnSpc>
                <a:spcPts val="135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tactic-specific metrics</a:t>
            </a:r>
            <a:endParaRPr lang="en-US" sz="900" dirty="0"/>
          </a:p>
          <a:p>
            <a:pPr algn="l" marL="114300" indent="-114300">
              <a:lnSpc>
                <a:spcPts val="135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Java-dominated datasets</a:t>
            </a:r>
            <a:endParaRPr lang="en-US" sz="900" dirty="0"/>
          </a:p>
          <a:p>
            <a:pPr algn="l" marL="114300" indent="-114300">
              <a:lnSpc>
                <a:spcPts val="135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benchmarks (IPSynth: 20 tasks)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73501" y="2450306"/>
            <a:ext cx="3962549" cy="1333351"/>
          </a:xfrm>
          <a:prstGeom prst="roundRect">
            <a:avLst>
              <a:gd name="adj" fmla="val 5715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00451" y="2577257"/>
            <a:ext cx="37828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Challenges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451" y="2780407"/>
            <a:ext cx="3708648" cy="800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5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Detection-remediation gap (0/9 fixed)</a:t>
            </a:r>
            <a:endParaRPr lang="en-US" sz="900" dirty="0"/>
          </a:p>
          <a:p>
            <a:pPr algn="l" marL="114300" indent="-114300">
              <a:lnSpc>
                <a:spcPts val="135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resistance to automated changes</a:t>
            </a:r>
            <a:endParaRPr lang="en-US" sz="900" dirty="0"/>
          </a:p>
          <a:p>
            <a:pPr algn="l" marL="114300" indent="-114300">
              <a:lnSpc>
                <a:spcPts val="135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preservation vs. architecture improvement</a:t>
            </a:r>
            <a:endParaRPr lang="en-US" sz="900" dirty="0"/>
          </a:p>
          <a:p>
            <a:pPr algn="l" marL="114300" indent="-114300">
              <a:lnSpc>
                <a:spcPts val="135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preservation may be inappropriate for tactic-level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985963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271713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Gaps &amp; Future Directions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947988"/>
            <a:ext cx="6476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 gap and the five-point research agenda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83593"/>
            <a:ext cx="82906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mature research streams exist in </a:t>
            </a:r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complete isolation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223814"/>
            <a:ext cx="3530650" cy="1507480"/>
          </a:xfrm>
          <a:prstGeom prst="roundRect">
            <a:avLst>
              <a:gd name="adj" fmla="val 505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376214"/>
            <a:ext cx="32903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1: Tactic Detection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0350" y="1626989"/>
            <a:ext cx="3225850" cy="8757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Marquez: 91 studies surveyed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ArchTacRV: ML-based detection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IPSynth: 85% via program synthesis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et al.: 4,195 SO posts mined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32833" y="1787128"/>
            <a:ext cx="478185" cy="380702"/>
          </a:xfrm>
          <a:prstGeom prst="roundRect">
            <a:avLst>
              <a:gd name="adj" fmla="val 20016"/>
            </a:avLst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31582" y="1888629"/>
            <a:ext cx="2806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05400" y="1223814"/>
            <a:ext cx="3530650" cy="1507480"/>
          </a:xfrm>
          <a:prstGeom prst="roundRect">
            <a:avLst>
              <a:gd name="adj" fmla="val 5055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57800" y="1376214"/>
            <a:ext cx="32903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2: LLM Refactoring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7800" y="1626989"/>
            <a:ext cx="3225850" cy="8757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MANTRA: 82.8% success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et al.: 86.7% recall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Piao et al.: 61 types tested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Horikawa: 15,451 instances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883694"/>
            <a:ext cx="8128099" cy="535781"/>
          </a:xfrm>
          <a:prstGeom prst="roundRect">
            <a:avLst>
              <a:gd name="adj" fmla="val 1422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2117" y="3036094"/>
            <a:ext cx="797976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Contribution:</a:t>
            </a:r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Tactic Detection → </a:t>
            </a:r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Tactic Implementation</a:t>
            </a:r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Quality Measurement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950" y="3520976"/>
            <a:ext cx="2607766" cy="522982"/>
          </a:xfrm>
          <a:prstGeom prst="roundRect">
            <a:avLst>
              <a:gd name="adj" fmla="val 145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451" y="3622477"/>
            <a:ext cx="245286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IPSynth: 85% success but uses SMT solver, not LLMs. ChatGPT: only 5%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68117" y="3520976"/>
            <a:ext cx="2607766" cy="522982"/>
          </a:xfrm>
          <a:prstGeom prst="roundRect">
            <a:avLst>
              <a:gd name="adj" fmla="val 145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69618" y="3622477"/>
            <a:ext cx="245286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MANTRA: 82.8% but method-level only. No architecture-level data exists.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28283" y="3520976"/>
            <a:ext cx="2607766" cy="522982"/>
          </a:xfrm>
          <a:prstGeom prst="roundRect">
            <a:avLst>
              <a:gd name="adj" fmla="val 145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29784" y="3622477"/>
            <a:ext cx="245286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 of tactic studies don't describe identification method [Marquez, 2022]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Specific Research Gaps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83593"/>
            <a:ext cx="8128099" cy="330101"/>
          </a:xfrm>
          <a:prstGeom prst="roundRect">
            <a:avLst>
              <a:gd name="adj" fmla="val 15389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959793"/>
            <a:ext cx="31089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39701" y="959793"/>
            <a:ext cx="308831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67460" y="959793"/>
            <a:ext cx="463247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1213693"/>
            <a:ext cx="8128099" cy="2963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7950" y="1505248"/>
            <a:ext cx="8128099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901" y="1277094"/>
            <a:ext cx="310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9701" y="1277094"/>
            <a:ext cx="30883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lack tactic identification methods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67460" y="1277094"/>
            <a:ext cx="46324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of 91 studies [Marquez, 2022]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1510010"/>
            <a:ext cx="8128099" cy="296317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7950" y="1801564"/>
            <a:ext cx="8128099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901" y="1573411"/>
            <a:ext cx="310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9701" y="1573411"/>
            <a:ext cx="30883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rationale doesn't trace to 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67460" y="1573411"/>
            <a:ext cx="46324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violations not remediated [Rosik, 2011]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1806327"/>
            <a:ext cx="8128099" cy="2963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07950" y="2097881"/>
            <a:ext cx="8128099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901" y="1869728"/>
            <a:ext cx="310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9701" y="1869728"/>
            <a:ext cx="30883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cost-benefit quantification for tactics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67460" y="1869728"/>
            <a:ext cx="46324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mappings only [Bogner, 2019]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950" y="2102644"/>
            <a:ext cx="8128099" cy="296317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07950" y="2394198"/>
            <a:ext cx="8128099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901" y="2166045"/>
            <a:ext cx="310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9701" y="2166045"/>
            <a:ext cx="30883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static analysis integration is ad hoc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67460" y="2166045"/>
            <a:ext cx="46324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standardized framework exists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950" y="2398961"/>
            <a:ext cx="8128099" cy="2963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07950" y="2690515"/>
            <a:ext cx="8128099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901" y="2462361"/>
            <a:ext cx="310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39701" y="2462361"/>
            <a:ext cx="30883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Python architectural tactic benchmarks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67460" y="2462361"/>
            <a:ext cx="46324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datasets Java-only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950" y="2695277"/>
            <a:ext cx="8128099" cy="296317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07950" y="2986832"/>
            <a:ext cx="8128099" cy="0"/>
          </a:xfrm>
          <a:prstGeom prst="line">
            <a:avLst/>
          </a:prstGeom>
          <a:noFill/>
          <a:ln w="9525">
            <a:solidFill>
              <a:srgbClr val="D0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901" y="2758678"/>
            <a:ext cx="310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39701" y="2758678"/>
            <a:ext cx="30883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don't plan architecturally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67460" y="2758678"/>
            <a:ext cx="46324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"Cleanup partners" not "architects" [Horikawa, 2025]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7950" y="2991594"/>
            <a:ext cx="8128099" cy="2867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4901" y="3054995"/>
            <a:ext cx="310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39701" y="3054995"/>
            <a:ext cx="30883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formal verification of LLM refactorings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67460" y="3054995"/>
            <a:ext cx="46324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 unsafe rate [Liu, 2025]; IPSynth SMT only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Research 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34492"/>
            <a:ext cx="3975199" cy="882402"/>
          </a:xfrm>
          <a:prstGeom prst="roundRect">
            <a:avLst>
              <a:gd name="adj" fmla="val 863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0350" y="1086892"/>
            <a:ext cx="37438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LLM-Driven Tactic Implementation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0350" y="1309092"/>
            <a:ext cx="374380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context injection, multi-file transformation, tactic-specific prompting, 15 modifiability tactics as starting catalog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60850" y="934492"/>
            <a:ext cx="3975199" cy="882402"/>
          </a:xfrm>
          <a:prstGeom prst="roundRect">
            <a:avLst>
              <a:gd name="adj" fmla="val 863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13250" y="1086892"/>
            <a:ext cx="37438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Multi-Tool Validation Frameworks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13250" y="1309092"/>
            <a:ext cx="374380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Radon + SonarQube + Pylint + architecture analysis with Cliff's Delta + Wilcoxon + Benjamini-Hochberg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943844"/>
            <a:ext cx="2590800" cy="1231553"/>
          </a:xfrm>
          <a:prstGeom prst="roundRect">
            <a:avLst>
              <a:gd name="adj" fmla="val 6187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0350" y="2096244"/>
            <a:ext cx="2331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Architecture-Aware Agent Pipelines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0350" y="2489895"/>
            <a:ext cx="233172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+ Developer + Reviewer + Repair agents; proactive tactic selection based on system health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76451" y="1943844"/>
            <a:ext cx="2590949" cy="1231553"/>
          </a:xfrm>
          <a:prstGeom prst="roundRect">
            <a:avLst>
              <a:gd name="adj" fmla="val 6187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8851" y="2096244"/>
            <a:ext cx="23318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Tactic-Specific Benchmarks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8851" y="2318445"/>
            <a:ext cx="2331872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before/after systems, multi-language (especially Python), verification criteria included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45101" y="1943844"/>
            <a:ext cx="2590949" cy="1231553"/>
          </a:xfrm>
          <a:prstGeom prst="roundRect">
            <a:avLst>
              <a:gd name="adj" fmla="val 6187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7501" y="2096244"/>
            <a:ext cx="23318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Formal Verification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7501" y="2489895"/>
            <a:ext cx="2331872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AST-based structural verification, refinement calculus, hybrid LLM + SMT approach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950" y="3327797"/>
            <a:ext cx="8128099" cy="1048345"/>
          </a:xfrm>
          <a:prstGeom prst="roundRect">
            <a:avLst>
              <a:gd name="adj" fmla="val 726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7924" y="3505498"/>
            <a:ext cx="7928152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field is at an </a:t>
            </a:r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inflection point</a:t>
            </a:r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All components exist individually — tactic catalogs, LLM code generation, multi-agent pipelines, static analysis verification. What doesn't exist is a system that </a:t>
            </a:r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them all</a:t>
            </a:r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31763" y="934492"/>
            <a:ext cx="0" cy="399901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2526" y="934492"/>
            <a:ext cx="38635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determines maintainability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2526" y="1156692"/>
            <a:ext cx="386358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60-80% of costs are maintenance; load-bearing walls metaphor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1763" y="1486793"/>
            <a:ext cx="0" cy="57760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526" y="1486793"/>
            <a:ext cx="38635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 are the building blocks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2526" y="1708993"/>
            <a:ext cx="386358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modifiability tactics in 3 categories; 63% of projects modify patterns with tactics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1763" y="2216795"/>
            <a:ext cx="0" cy="399901"/>
          </a:xfrm>
          <a:prstGeom prst="line">
            <a:avLst/>
          </a:prstGeom>
          <a:noFill/>
          <a:ln w="47625">
            <a:solidFill>
              <a:srgbClr val="E85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2526" y="2216795"/>
            <a:ext cx="38635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≠ Remediation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2526" y="2438995"/>
            <a:ext cx="386358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0/9 violations fixed at IBM; 82.2% academic-only 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1763" y="2769096"/>
            <a:ext cx="0" cy="399901"/>
          </a:xfrm>
          <a:prstGeom prst="line">
            <a:avLst/>
          </a:prstGeom>
          <a:noFill/>
          <a:ln w="47625">
            <a:solidFill>
              <a:srgbClr val="E85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526" y="2769096"/>
            <a:ext cx="38635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 a single tool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2526" y="2991296"/>
            <a:ext cx="386358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&lt;0.4% inter-tool agreement; multi-tool validation essential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97313" y="934492"/>
            <a:ext cx="0" cy="577602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8076" y="934492"/>
            <a:ext cx="38637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work with pipelines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8076" y="1156692"/>
            <a:ext cx="386373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82.8% (MANTRA) vs 8.7% (standalone); verification is the critical component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97313" y="1664494"/>
            <a:ext cx="0" cy="577602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8076" y="1664494"/>
            <a:ext cx="38637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specificity matters enormously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8076" y="1886694"/>
            <a:ext cx="386373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 → 86.7% with subcategory prompts; rule-based outperforms descriptive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97313" y="2394496"/>
            <a:ext cx="0" cy="577602"/>
          </a:xfrm>
          <a:prstGeom prst="line">
            <a:avLst/>
          </a:prstGeom>
          <a:noFill/>
          <a:ln w="47625">
            <a:solidFill>
              <a:srgbClr val="E85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8076" y="2394496"/>
            <a:ext cx="38637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architecture-level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8076" y="2616696"/>
            <a:ext cx="386373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96.3% of agentic refactorings touch 1 file; no LLM implements tactics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97313" y="3124498"/>
            <a:ext cx="0" cy="577602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8076" y="3124498"/>
            <a:ext cx="38637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 gap can be bridged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8076" y="3346698"/>
            <a:ext cx="386373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components exist individually — combining them is the research frontier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5637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2252663"/>
            <a:ext cx="762000" cy="38100"/>
          </a:xfrm>
          <a:prstGeom prst="rect">
            <a:avLst/>
          </a:prstGeom>
          <a:solidFill>
            <a:srgbClr val="E857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2493913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Implementation of Architectural Tactics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2779663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Software Quality Improvement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3243114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Innopolis University — MS Study Notes,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3465314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40+ papers across SA, maintainability, and LLM research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Implementation of Architectural Tactics for Software Quality Improvement</dc:title>
  <dc:subject>Comprehensive Study Guide</dc:subject>
  <dc:creator>Innopolis University</dc:creator>
  <cp:lastModifiedBy>Innopolis University</cp:lastModifiedBy>
  <cp:revision>1</cp:revision>
  <dcterms:created xsi:type="dcterms:W3CDTF">2026-02-17T10:14:25Z</dcterms:created>
  <dcterms:modified xsi:type="dcterms:W3CDTF">2026-02-17T10:14:25Z</dcterms:modified>
</cp:coreProperties>
</file>